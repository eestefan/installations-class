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sldIdLst>
    <p:sldId id="256" r:id="rId2"/>
    <p:sldId id="262" r:id="rId3"/>
    <p:sldId id="273" r:id="rId4"/>
    <p:sldId id="265" r:id="rId5"/>
    <p:sldId id="267" r:id="rId6"/>
    <p:sldId id="266" r:id="rId7"/>
    <p:sldId id="268" r:id="rId8"/>
    <p:sldId id="261" r:id="rId9"/>
    <p:sldId id="274" r:id="rId10"/>
    <p:sldId id="275" r:id="rId11"/>
    <p:sldId id="270" r:id="rId12"/>
    <p:sldId id="269" r:id="rId13"/>
    <p:sldId id="271" r:id="rId14"/>
    <p:sldId id="260"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94"/>
  </p:normalViewPr>
  <p:slideViewPr>
    <p:cSldViewPr snapToGrid="0" snapToObjects="1">
      <p:cViewPr varScale="1">
        <p:scale>
          <a:sx n="137" d="100"/>
          <a:sy n="137" d="100"/>
        </p:scale>
        <p:origin x="4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15EF7-C7F6-0348-8B6E-868AA66FEC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D0EAA4-FE75-1743-BD8F-984B5E5EF7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0EF7E8-31ED-6E48-8C97-AD12F7C7CD5F}"/>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D11F999F-EA48-644B-B0A0-043E1B3A704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101CE8-64CD-F848-9E99-8D8E48CB09C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3437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E6ED-4162-3647-9FE3-24FE4DE56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352D4F-C1B9-BA49-9A51-CE29CF6EF9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1D69C-C931-454E-A03E-A32CF9AFA230}"/>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60667CA5-83C3-624E-A12E-62FEC2D49E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9B2B07-9794-0648-9723-CC8B7BC2EC0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8091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D6F1-5752-A34A-874E-CA62201FA5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3BAE01-63D7-3240-9951-3859671C71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8AF8A-B243-634C-A211-8CB0B02849BC}"/>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B567779E-627C-BF41-905E-3769A761FB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59C0B6-C9C2-E847-913B-AF8C5FF6F2F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985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93A5F-74F3-474C-8A69-ECB2BDE782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4EE72-383F-3446-8A5E-1570364CFA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4DE852-CB3F-7143-89A2-9A9095763D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9C864D-EA36-1045-824E-9BB8202FF32A}"/>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6" name="Footer Placeholder 5">
            <a:extLst>
              <a:ext uri="{FF2B5EF4-FFF2-40B4-BE49-F238E27FC236}">
                <a16:creationId xmlns:a16="http://schemas.microsoft.com/office/drawing/2014/main" id="{BE056715-109C-0548-B6F8-D34CC7BEA32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1435A45-A62C-4546-9478-B6A97EF0946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6243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2CD0-0AAB-A14C-A89A-CD374CA36F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9681AD-67CD-A44A-96C3-6DBC7781FF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8D875B-1B72-9849-9695-B0F18B9873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B9CBE3-35B6-B84C-BA23-15BDE5F17E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BD85FA-75D9-6E4A-A18E-D7380A36B4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8ED4A4-3568-E74F-B503-6D17484F1C1A}"/>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8" name="Footer Placeholder 7">
            <a:extLst>
              <a:ext uri="{FF2B5EF4-FFF2-40B4-BE49-F238E27FC236}">
                <a16:creationId xmlns:a16="http://schemas.microsoft.com/office/drawing/2014/main" id="{40BEBE5A-480E-114B-8290-CC885BA1B8B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F9C4745-6472-324B-AE1A-3C07E97C1CC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86273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5D3C-170C-DD45-B75E-03B8D4DCE0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416291-C9A0-E64D-9911-18D351394FF1}"/>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4" name="Footer Placeholder 3">
            <a:extLst>
              <a:ext uri="{FF2B5EF4-FFF2-40B4-BE49-F238E27FC236}">
                <a16:creationId xmlns:a16="http://schemas.microsoft.com/office/drawing/2014/main" id="{5A613F5F-29B2-5940-A63A-02B7DE89272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D01113A-F868-FD43-8873-275528CB012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8831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F78D4-ED25-CC4C-91D9-47467C434819}"/>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3" name="Footer Placeholder 2">
            <a:extLst>
              <a:ext uri="{FF2B5EF4-FFF2-40B4-BE49-F238E27FC236}">
                <a16:creationId xmlns:a16="http://schemas.microsoft.com/office/drawing/2014/main" id="{426AC3B7-A7BE-A340-A050-679D48D2029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3BDDC46-60EB-4847-92F2-A7870A3F24C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5865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8714-6D24-454B-A251-124DA0B78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6541A9-8662-0446-AA25-9004965E73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B52C21-1334-D845-9800-91C102EE04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5AD92B-124E-824E-8561-6504F2EE23E1}"/>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6" name="Footer Placeholder 5">
            <a:extLst>
              <a:ext uri="{FF2B5EF4-FFF2-40B4-BE49-F238E27FC236}">
                <a16:creationId xmlns:a16="http://schemas.microsoft.com/office/drawing/2014/main" id="{17E48DE5-6EC3-9445-8FB0-B8D103F8AF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B69AEEF-010B-AB4C-BBC2-3FBC950D8B9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829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96C3-4860-604D-9C86-5D0114FD70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DE3342-6207-2848-9E77-45558C867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DFEECF-F8D8-EA48-83B1-9398AF1473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89D63B-6172-2F4E-89D2-E01387A5B7A0}"/>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6" name="Footer Placeholder 5">
            <a:extLst>
              <a:ext uri="{FF2B5EF4-FFF2-40B4-BE49-F238E27FC236}">
                <a16:creationId xmlns:a16="http://schemas.microsoft.com/office/drawing/2014/main" id="{8C0E4572-F59C-1240-ADF8-FFA3E127000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84336C6-F7F0-4A4C-8B75-441C39085A6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134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915E-DBF1-CB41-85DA-E1FC4DFE2B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9EA6A2-E3A6-2F4E-8C76-417616E01C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D52CD-A3E4-0849-9EDC-77F3EB510567}"/>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ED5D7024-63BF-CA42-AF8D-6CFE8108052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768EAA-1A22-C541-B2EC-014C5F175BD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8687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662FEC-D597-EC4E-A4C9-6B201C0E78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6B2E01-2C21-1644-B218-C73A04C8E0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F73B8-9EA0-3D40-B872-D82F64AA5480}"/>
              </a:ext>
            </a:extLst>
          </p:cNvPr>
          <p:cNvSpPr>
            <a:spLocks noGrp="1"/>
          </p:cNvSpPr>
          <p:nvPr>
            <p:ph type="dt" sz="half" idx="10"/>
          </p:nvPr>
        </p:nvSpPr>
        <p:spPr/>
        <p:txBody>
          <a:body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7F27607D-EEBF-1048-9D50-913E3968856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853376-E096-C347-9480-1FA33847CB2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1897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1B9DB-5674-F24E-9302-81E2C7C0A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001272-EB56-0842-854D-B20F2ECF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10CA75-AD1D-6947-B21B-77428F958F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6/28/19</a:t>
            </a:fld>
            <a:endParaRPr lang="en-US" dirty="0"/>
          </a:p>
        </p:txBody>
      </p:sp>
      <p:sp>
        <p:nvSpPr>
          <p:cNvPr id="5" name="Footer Placeholder 4">
            <a:extLst>
              <a:ext uri="{FF2B5EF4-FFF2-40B4-BE49-F238E27FC236}">
                <a16:creationId xmlns:a16="http://schemas.microsoft.com/office/drawing/2014/main" id="{36410569-E491-564E-A754-EFD5B62ADB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DD81EB2-34AD-ED4A-81B5-BB69E7160E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440556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tudy.com/academy/lesson/social-justice-lesson-for-kids-definition-issues-examples.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iami-primo.hosted.exlibrisgroup.com/primo-explore/fulldisplay?docid=01UOML_ALMA21286182190002976&amp;context=L&amp;vid=uml_new&amp;lang=en_US&amp;search_scope=SC&amp;adaptor=Local%20Search%20Engine&amp;tab=default_tab&amp;query=any,contains,games&amp;facet=library,include,SC&amp;offset=0" TargetMode="External"/><Relationship Id="rId2" Type="http://schemas.openxmlformats.org/officeDocument/2006/relationships/hyperlink" Target="https://miami-primo.hosted.exlibrisgroup.com/primo-explore/fulldisplay?docid=01UOML_ALMA21286182160002976&amp;context=L&amp;vid=uml_new&amp;lang=en_US&amp;search_scope=SC&amp;adaptor=Local%20Search%20Engine&amp;tab=default_tab&amp;query=any,contains,games&amp;facet=library,include,SC&amp;offset=0" TargetMode="External"/><Relationship Id="rId1" Type="http://schemas.openxmlformats.org/officeDocument/2006/relationships/slideLayout" Target="../slideLayouts/slideLayout2.xml"/><Relationship Id="rId5" Type="http://schemas.openxmlformats.org/officeDocument/2006/relationships/hyperlink" Target="https://miami-primo.hosted.exlibrisgroup.com/primo-explore/fulldisplay?docid=01UOML_ALMA21296431640002976&amp;context=L&amp;vid=uml_new&amp;lang=en_US&amp;search_scope=SC&amp;adaptor=Local%20Search%20Engine&amp;tab=default_tab&amp;query=any,contains,gayopoly&amp;offset=0" TargetMode="External"/><Relationship Id="rId4" Type="http://schemas.openxmlformats.org/officeDocument/2006/relationships/hyperlink" Target="https://miami-primo.hosted.exlibrisgroup.com/primo-explore/fulldisplay?docid=01UOML_ALMA21296431720002976&amp;context=L&amp;vid=uml_new&amp;lang=en_US&amp;search_scope=SC&amp;adaptor=Local%20Search%20Engine&amp;tab=default_tab&amp;query=any,contains,games&amp;facet=library,include,SC&amp;offset=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accent1"/>
          </a:fgClr>
          <a:bgClr>
            <a:schemeClr val="bg1"/>
          </a:bgClr>
        </a:patt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DE85E58-D301-6D41-AB38-A078C55982AD}"/>
              </a:ext>
            </a:extLst>
          </p:cNvPr>
          <p:cNvSpPr>
            <a:spLocks noGrp="1"/>
          </p:cNvSpPr>
          <p:nvPr>
            <p:ph type="subTitle" idx="1"/>
          </p:nvPr>
        </p:nvSpPr>
        <p:spPr>
          <a:xfrm>
            <a:off x="3045368" y="4074718"/>
            <a:ext cx="6105194" cy="682079"/>
          </a:xfrm>
        </p:spPr>
        <p:txBody>
          <a:bodyPr>
            <a:normAutofit/>
          </a:bodyPr>
          <a:lstStyle/>
          <a:p>
            <a:r>
              <a:rPr lang="en-US" dirty="0">
                <a:solidFill>
                  <a:srgbClr val="FFFFFF"/>
                </a:solidFill>
              </a:rPr>
              <a:t>Supersizing Social Justice through Games</a:t>
            </a:r>
          </a:p>
        </p:txBody>
      </p:sp>
      <p:sp>
        <p:nvSpPr>
          <p:cNvPr id="2" name="Title 1">
            <a:extLst>
              <a:ext uri="{FF2B5EF4-FFF2-40B4-BE49-F238E27FC236}">
                <a16:creationId xmlns:a16="http://schemas.microsoft.com/office/drawing/2014/main" id="{840CD7EC-03EA-D244-8853-F1370334978C}"/>
              </a:ext>
            </a:extLst>
          </p:cNvPr>
          <p:cNvSpPr>
            <a:spLocks noGrp="1"/>
          </p:cNvSpPr>
          <p:nvPr>
            <p:ph type="ctrTitle"/>
          </p:nvPr>
        </p:nvSpPr>
        <p:spPr>
          <a:xfrm>
            <a:off x="3045368" y="2043663"/>
            <a:ext cx="6105194" cy="2031055"/>
          </a:xfrm>
        </p:spPr>
        <p:txBody>
          <a:bodyPr>
            <a:normAutofit/>
          </a:bodyPr>
          <a:lstStyle/>
          <a:p>
            <a:r>
              <a:rPr lang="en-US" dirty="0">
                <a:solidFill>
                  <a:srgbClr val="FFFFFF"/>
                </a:solidFill>
              </a:rPr>
              <a:t>Playing with S.J.</a:t>
            </a:r>
          </a:p>
        </p:txBody>
      </p:sp>
    </p:spTree>
    <p:extLst>
      <p:ext uri="{BB962C8B-B14F-4D97-AF65-F5344CB8AC3E}">
        <p14:creationId xmlns:p14="http://schemas.microsoft.com/office/powerpoint/2010/main" val="238568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B5869B-2320-43F0-B805-E4E01DFEC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2693976"/>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87E38AD-8A43-2A47-85CE-C5C6650DFF3D}"/>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Concept Introduction</a:t>
            </a:r>
          </a:p>
        </p:txBody>
      </p:sp>
      <p:sp>
        <p:nvSpPr>
          <p:cNvPr id="6" name="Content Placeholder 5">
            <a:extLst>
              <a:ext uri="{FF2B5EF4-FFF2-40B4-BE49-F238E27FC236}">
                <a16:creationId xmlns:a16="http://schemas.microsoft.com/office/drawing/2014/main" id="{50822997-2A41-894B-A97C-ACE56A850831}"/>
              </a:ext>
            </a:extLst>
          </p:cNvPr>
          <p:cNvSpPr>
            <a:spLocks noGrp="1"/>
          </p:cNvSpPr>
          <p:nvPr>
            <p:ph idx="1"/>
          </p:nvPr>
        </p:nvSpPr>
        <p:spPr>
          <a:xfrm>
            <a:off x="838200" y="2693976"/>
            <a:ext cx="10309698" cy="3667913"/>
          </a:xfrm>
        </p:spPr>
        <p:txBody>
          <a:bodyPr>
            <a:normAutofit fontScale="92500"/>
          </a:bodyPr>
          <a:lstStyle/>
          <a:p>
            <a:pPr marL="0" indent="0" algn="ctr">
              <a:buNone/>
            </a:pPr>
            <a:r>
              <a:rPr lang="en-US" b="1" dirty="0"/>
              <a:t>What is Social Justice?</a:t>
            </a:r>
            <a:r>
              <a:rPr lang="en-US" dirty="0"/>
              <a:t> </a:t>
            </a:r>
          </a:p>
          <a:p>
            <a:pPr marL="0" indent="0">
              <a:buNone/>
            </a:pPr>
            <a:r>
              <a:rPr lang="en-US" dirty="0"/>
              <a:t>“Institutions in society should allow equal opportunities to all people without engaging in discrimination. Social Injustices occur when a person, people or groups of people are treated unfairly based upon a certain characteristic of that person or group of people such as race (racism), age (ageism), gender (sexism), religion and sexuality (heterosexism). </a:t>
            </a:r>
          </a:p>
          <a:p>
            <a:pPr marL="0" indent="0">
              <a:buNone/>
            </a:pPr>
            <a:r>
              <a:rPr lang="en-US" dirty="0"/>
              <a:t>~</a:t>
            </a:r>
            <a:r>
              <a:rPr lang="en-US" b="1" dirty="0"/>
              <a:t>Social Justice Lesson for Kids: Definition, Issues &amp; Examples, Chapter 17, Lesson 6. (</a:t>
            </a:r>
            <a:r>
              <a:rPr lang="en-US" dirty="0">
                <a:hlinkClick r:id="rId3"/>
              </a:rPr>
              <a:t>https://study.com/academy/lesson/social-justice-lesson-for-kids-definition-issues-examples.html</a:t>
            </a:r>
            <a:r>
              <a:rPr lang="en-US" dirty="0"/>
              <a:t> </a:t>
            </a:r>
            <a:r>
              <a:rPr lang="en-US" b="1" dirty="0"/>
              <a:t>)</a:t>
            </a:r>
            <a:endParaRPr lang="en-US" dirty="0"/>
          </a:p>
        </p:txBody>
      </p:sp>
    </p:spTree>
    <p:extLst>
      <p:ext uri="{BB962C8B-B14F-4D97-AF65-F5344CB8AC3E}">
        <p14:creationId xmlns:p14="http://schemas.microsoft.com/office/powerpoint/2010/main" val="856421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821D0-40A2-F24E-ABBA-9F1D85AB4AC1}"/>
              </a:ext>
            </a:extLst>
          </p:cNvPr>
          <p:cNvSpPr>
            <a:spLocks noGrp="1"/>
          </p:cNvSpPr>
          <p:nvPr>
            <p:ph idx="1"/>
          </p:nvPr>
        </p:nvSpPr>
        <p:spPr>
          <a:xfrm>
            <a:off x="838200" y="622570"/>
            <a:ext cx="10515600" cy="5554393"/>
          </a:xfrm>
        </p:spPr>
        <p:txBody>
          <a:bodyPr>
            <a:normAutofit fontScale="92500" lnSpcReduction="20000"/>
          </a:bodyPr>
          <a:lstStyle/>
          <a:p>
            <a:pPr marL="0" indent="0">
              <a:buNone/>
            </a:pPr>
            <a:r>
              <a:rPr lang="en-US" dirty="0"/>
              <a:t>The installation is inspired by the social justice boardgames in the </a:t>
            </a:r>
            <a:r>
              <a:rPr lang="en-US" dirty="0" err="1"/>
              <a:t>Kislak</a:t>
            </a:r>
            <a:r>
              <a:rPr lang="en-US" dirty="0"/>
              <a:t> Center at the University of Miami’s Special Collections. And is to be presented in collaboration with the </a:t>
            </a:r>
            <a:r>
              <a:rPr lang="en-US" dirty="0" err="1"/>
              <a:t>Kislak</a:t>
            </a:r>
            <a:r>
              <a:rPr lang="en-US" dirty="0"/>
              <a:t> Center, School of Comm Interactive Media Program and the Miami Law. </a:t>
            </a:r>
          </a:p>
          <a:p>
            <a:pPr marL="0" indent="0">
              <a:buNone/>
            </a:pPr>
            <a:endParaRPr lang="en-US" sz="2000" dirty="0"/>
          </a:p>
          <a:p>
            <a:pPr marL="0" indent="0">
              <a:buNone/>
            </a:pPr>
            <a:r>
              <a:rPr lang="en-US" sz="2400" dirty="0"/>
              <a:t>Games in the </a:t>
            </a:r>
            <a:r>
              <a:rPr lang="en-US" sz="2400" dirty="0" err="1"/>
              <a:t>Kislak</a:t>
            </a:r>
            <a:r>
              <a:rPr lang="en-US" sz="2400" dirty="0"/>
              <a:t> Center collection include: </a:t>
            </a:r>
          </a:p>
          <a:p>
            <a:r>
              <a:rPr lang="en-US" sz="2400" b="1" u="sng" dirty="0">
                <a:hlinkClick r:id="rId2"/>
              </a:rPr>
              <a:t>What shall I be? the exciting game of career girls.</a:t>
            </a:r>
            <a:r>
              <a:rPr lang="en-US" sz="2400" b="1" dirty="0"/>
              <a:t> </a:t>
            </a:r>
            <a:r>
              <a:rPr lang="en-US" sz="2400" dirty="0"/>
              <a:t>1966 (Career opportunities for the modern woman.)</a:t>
            </a:r>
          </a:p>
          <a:p>
            <a:r>
              <a:rPr lang="en-US" sz="2400" b="1" dirty="0">
                <a:hlinkClick r:id="rId3"/>
              </a:rPr>
              <a:t>Woman &amp; man the classic confrontation.</a:t>
            </a:r>
            <a:r>
              <a:rPr lang="en-US" sz="2400" b="1" dirty="0"/>
              <a:t> 1971 </a:t>
            </a:r>
            <a:r>
              <a:rPr lang="en-US" sz="2400" dirty="0"/>
              <a:t>"Developed by Psychology Today to draw attention to "the way one sex has managed to squelch the other," the game aims to correct this blind spot. Men are encouraged to play the game as a woman and "feel what it's like to be a mere female to compete in a frustrating world that caters to men." But women are also encouraged to change roles and "get a taste of male supremacy, and compete with the sweet certainty that the world is made in a male image." --description from The Book Shop LLC</a:t>
            </a:r>
          </a:p>
          <a:p>
            <a:r>
              <a:rPr lang="en-US" sz="2400" b="1" dirty="0">
                <a:hlinkClick r:id="rId4"/>
              </a:rPr>
              <a:t>The rainbow gayme.</a:t>
            </a:r>
            <a:r>
              <a:rPr lang="en-US" sz="2400" b="1" dirty="0"/>
              <a:t> 1992</a:t>
            </a:r>
          </a:p>
          <a:p>
            <a:r>
              <a:rPr lang="en-US" sz="2400" b="1" dirty="0">
                <a:hlinkClick r:id="rId5"/>
              </a:rPr>
              <a:t>Gayopoly</a:t>
            </a:r>
            <a:r>
              <a:rPr lang="en-US" sz="2400" b="1" dirty="0"/>
              <a:t> 1981</a:t>
            </a:r>
          </a:p>
          <a:p>
            <a:endParaRPr lang="en-US" sz="1800" b="1" dirty="0"/>
          </a:p>
          <a:p>
            <a:endParaRPr lang="en-US" sz="1800" b="1" dirty="0"/>
          </a:p>
          <a:p>
            <a:endParaRPr lang="en-US" sz="2000" dirty="0"/>
          </a:p>
          <a:p>
            <a:endParaRPr lang="en-US" dirty="0"/>
          </a:p>
        </p:txBody>
      </p:sp>
    </p:spTree>
    <p:extLst>
      <p:ext uri="{BB962C8B-B14F-4D97-AF65-F5344CB8AC3E}">
        <p14:creationId xmlns:p14="http://schemas.microsoft.com/office/powerpoint/2010/main" val="1314002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54DBA3-4D33-7243-B393-F3FCA24FF44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61697" y="367562"/>
            <a:ext cx="4433622" cy="5911497"/>
          </a:xfrm>
          <a:prstGeom prst="rect">
            <a:avLst/>
          </a:prstGeom>
        </p:spPr>
      </p:pic>
      <p:pic>
        <p:nvPicPr>
          <p:cNvPr id="10" name="Picture 9">
            <a:extLst>
              <a:ext uri="{FF2B5EF4-FFF2-40B4-BE49-F238E27FC236}">
                <a16:creationId xmlns:a16="http://schemas.microsoft.com/office/drawing/2014/main" id="{95975BE4-2DE5-F046-8872-CFAA1F15F7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5527997" y="1106501"/>
            <a:ext cx="5911498" cy="4433624"/>
          </a:xfrm>
          <a:prstGeom prst="rect">
            <a:avLst/>
          </a:prstGeom>
        </p:spPr>
      </p:pic>
    </p:spTree>
    <p:extLst>
      <p:ext uri="{BB962C8B-B14F-4D97-AF65-F5344CB8AC3E}">
        <p14:creationId xmlns:p14="http://schemas.microsoft.com/office/powerpoint/2010/main" val="116411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22344A-7A14-6044-BDD2-28CBC3BC076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5400000">
            <a:off x="-145334" y="1894040"/>
            <a:ext cx="4093227" cy="3069920"/>
          </a:xfrm>
          <a:prstGeom prst="rect">
            <a:avLst/>
          </a:prstGeom>
        </p:spPr>
      </p:pic>
      <p:pic>
        <p:nvPicPr>
          <p:cNvPr id="6" name="Picture 5">
            <a:extLst>
              <a:ext uri="{FF2B5EF4-FFF2-40B4-BE49-F238E27FC236}">
                <a16:creationId xmlns:a16="http://schemas.microsoft.com/office/drawing/2014/main" id="{DA601024-0261-0D41-92EB-F94DF6A615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a:off x="3700716" y="1382388"/>
            <a:ext cx="3069920" cy="4093226"/>
          </a:xfrm>
          <a:prstGeom prst="rect">
            <a:avLst/>
          </a:prstGeom>
        </p:spPr>
      </p:pic>
      <p:pic>
        <p:nvPicPr>
          <p:cNvPr id="3" name="Picture 2">
            <a:extLst>
              <a:ext uri="{FF2B5EF4-FFF2-40B4-BE49-F238E27FC236}">
                <a16:creationId xmlns:a16="http://schemas.microsoft.com/office/drawing/2014/main" id="{7BE181F5-0B78-5B49-97A8-63A30024C47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a:off x="7035111" y="1614101"/>
            <a:ext cx="4839730" cy="3629798"/>
          </a:xfrm>
          <a:prstGeom prst="rect">
            <a:avLst/>
          </a:prstGeom>
        </p:spPr>
      </p:pic>
    </p:spTree>
    <p:extLst>
      <p:ext uri="{BB962C8B-B14F-4D97-AF65-F5344CB8AC3E}">
        <p14:creationId xmlns:p14="http://schemas.microsoft.com/office/powerpoint/2010/main" val="3784995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0180E0-BA95-B84F-AC31-D503A6F3A3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7623" y="1142473"/>
            <a:ext cx="5627146" cy="4220360"/>
          </a:xfrm>
          <a:prstGeom prst="rect">
            <a:avLst/>
          </a:prstGeom>
        </p:spPr>
      </p:pic>
      <p:pic>
        <p:nvPicPr>
          <p:cNvPr id="3" name="Picture 2">
            <a:extLst>
              <a:ext uri="{FF2B5EF4-FFF2-40B4-BE49-F238E27FC236}">
                <a16:creationId xmlns:a16="http://schemas.microsoft.com/office/drawing/2014/main" id="{77E6E160-F672-DF44-88C3-BD6C6226CF3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37187" y="1142473"/>
            <a:ext cx="5627147" cy="4220360"/>
          </a:xfrm>
          <a:prstGeom prst="rect">
            <a:avLst/>
          </a:prstGeom>
        </p:spPr>
      </p:pic>
    </p:spTree>
    <p:extLst>
      <p:ext uri="{BB962C8B-B14F-4D97-AF65-F5344CB8AC3E}">
        <p14:creationId xmlns:p14="http://schemas.microsoft.com/office/powerpoint/2010/main" val="379935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A2A17B-9B2D-3748-83C6-DD2DBA13DE8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1849" y="1462731"/>
            <a:ext cx="5243384" cy="3932538"/>
          </a:xfrm>
          <a:prstGeom prst="rect">
            <a:avLst/>
          </a:prstGeom>
        </p:spPr>
      </p:pic>
      <p:pic>
        <p:nvPicPr>
          <p:cNvPr id="7" name="Picture 6">
            <a:extLst>
              <a:ext uri="{FF2B5EF4-FFF2-40B4-BE49-F238E27FC236}">
                <a16:creationId xmlns:a16="http://schemas.microsoft.com/office/drawing/2014/main" id="{00E00FE2-A05F-7045-B6CF-8B247CF2C2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93131" y="1462731"/>
            <a:ext cx="2949404" cy="3932539"/>
          </a:xfrm>
          <a:prstGeom prst="rect">
            <a:avLst/>
          </a:prstGeom>
        </p:spPr>
      </p:pic>
      <p:pic>
        <p:nvPicPr>
          <p:cNvPr id="9" name="Picture 8">
            <a:extLst>
              <a:ext uri="{FF2B5EF4-FFF2-40B4-BE49-F238E27FC236}">
                <a16:creationId xmlns:a16="http://schemas.microsoft.com/office/drawing/2014/main" id="{A6BCAE52-08D1-DC42-B72A-16B5AFDB24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020433" y="1462731"/>
            <a:ext cx="2949404" cy="3932538"/>
          </a:xfrm>
          <a:prstGeom prst="rect">
            <a:avLst/>
          </a:prstGeom>
        </p:spPr>
      </p:pic>
    </p:spTree>
    <p:extLst>
      <p:ext uri="{BB962C8B-B14F-4D97-AF65-F5344CB8AC3E}">
        <p14:creationId xmlns:p14="http://schemas.microsoft.com/office/powerpoint/2010/main" val="3858433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B5869B-2320-43F0-B805-E4E01DFEC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2693976"/>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87E38AD-8A43-2A47-85CE-C5C6650DFF3D}"/>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Concept Continued</a:t>
            </a:r>
          </a:p>
        </p:txBody>
      </p:sp>
      <p:sp>
        <p:nvSpPr>
          <p:cNvPr id="6" name="Content Placeholder 5">
            <a:extLst>
              <a:ext uri="{FF2B5EF4-FFF2-40B4-BE49-F238E27FC236}">
                <a16:creationId xmlns:a16="http://schemas.microsoft.com/office/drawing/2014/main" id="{50822997-2A41-894B-A97C-ACE56A850831}"/>
              </a:ext>
            </a:extLst>
          </p:cNvPr>
          <p:cNvSpPr>
            <a:spLocks noGrp="1"/>
          </p:cNvSpPr>
          <p:nvPr>
            <p:ph idx="1"/>
          </p:nvPr>
        </p:nvSpPr>
        <p:spPr>
          <a:xfrm>
            <a:off x="838200" y="2693976"/>
            <a:ext cx="10309698" cy="3482986"/>
          </a:xfrm>
        </p:spPr>
        <p:txBody>
          <a:bodyPr>
            <a:normAutofit/>
          </a:bodyPr>
          <a:lstStyle/>
          <a:p>
            <a:r>
              <a:rPr lang="en-US" dirty="0"/>
              <a:t>The installation focus is a life size boardgame where the viewers can participate as the game pieces. </a:t>
            </a:r>
          </a:p>
          <a:p>
            <a:r>
              <a:rPr lang="en-US" dirty="0"/>
              <a:t>The initial game will run through a scripted round of the game performed by actors and/or the audience. </a:t>
            </a:r>
          </a:p>
          <a:p>
            <a:r>
              <a:rPr lang="en-US" dirty="0"/>
              <a:t>At the start of the performance a brief description of social justice will be provided, followed by a description of the game theme and rules. (at this time viewers will be invited to participate in the initial game and will be provided a script to play along)</a:t>
            </a:r>
          </a:p>
        </p:txBody>
      </p:sp>
    </p:spTree>
    <p:extLst>
      <p:ext uri="{BB962C8B-B14F-4D97-AF65-F5344CB8AC3E}">
        <p14:creationId xmlns:p14="http://schemas.microsoft.com/office/powerpoint/2010/main" val="2133182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B5869B-2320-43F0-B805-E4E01DFEC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2693976"/>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87E38AD-8A43-2A47-85CE-C5C6650DFF3D}"/>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Concept Continued</a:t>
            </a:r>
          </a:p>
        </p:txBody>
      </p:sp>
      <p:sp>
        <p:nvSpPr>
          <p:cNvPr id="6" name="Content Placeholder 5">
            <a:extLst>
              <a:ext uri="{FF2B5EF4-FFF2-40B4-BE49-F238E27FC236}">
                <a16:creationId xmlns:a16="http://schemas.microsoft.com/office/drawing/2014/main" id="{50822997-2A41-894B-A97C-ACE56A850831}"/>
              </a:ext>
            </a:extLst>
          </p:cNvPr>
          <p:cNvSpPr>
            <a:spLocks noGrp="1"/>
          </p:cNvSpPr>
          <p:nvPr>
            <p:ph idx="1"/>
          </p:nvPr>
        </p:nvSpPr>
        <p:spPr>
          <a:xfrm>
            <a:off x="838200" y="2693976"/>
            <a:ext cx="10309698" cy="3482986"/>
          </a:xfrm>
        </p:spPr>
        <p:txBody>
          <a:bodyPr>
            <a:normAutofit fontScale="77500" lnSpcReduction="20000"/>
          </a:bodyPr>
          <a:lstStyle/>
          <a:p>
            <a:pPr marL="0" indent="0">
              <a:buNone/>
            </a:pPr>
            <a:r>
              <a:rPr lang="en-US" b="1" dirty="0"/>
              <a:t>Additional Interactives wish list:</a:t>
            </a:r>
          </a:p>
          <a:p>
            <a:r>
              <a:rPr lang="en-US" dirty="0"/>
              <a:t>Tablets with 2D videos of Social Justice games from the </a:t>
            </a:r>
            <a:r>
              <a:rPr lang="en-US" dirty="0" err="1"/>
              <a:t>Kislak</a:t>
            </a:r>
            <a:r>
              <a:rPr lang="en-US" dirty="0"/>
              <a:t> Collection. A written and audio narration is to be included with a brief description of each game. Tablets will include headsets for listening to not disturb other attendees.</a:t>
            </a:r>
          </a:p>
          <a:p>
            <a:r>
              <a:rPr lang="en-US" dirty="0"/>
              <a:t>An App may be developed which can provide the same 2D experience on individuals’ phones and tables. The app can also provide a way to play the life size game setup on the bricks.</a:t>
            </a:r>
          </a:p>
          <a:p>
            <a:r>
              <a:rPr lang="en-US" dirty="0"/>
              <a:t>Display cases with the </a:t>
            </a:r>
            <a:r>
              <a:rPr lang="en-US" dirty="0" err="1"/>
              <a:t>Kislak’s</a:t>
            </a:r>
            <a:r>
              <a:rPr lang="en-US" dirty="0"/>
              <a:t> collection of Social Justice Games for viewing.</a:t>
            </a:r>
          </a:p>
          <a:p>
            <a:r>
              <a:rPr lang="en-US" dirty="0"/>
              <a:t>Boardgame table and seating setups for the audience to play </a:t>
            </a:r>
          </a:p>
          <a:p>
            <a:pPr marL="0" indent="0">
              <a:buNone/>
            </a:pPr>
            <a:endParaRPr lang="en-US" b="1" dirty="0"/>
          </a:p>
          <a:p>
            <a:pPr marL="0" indent="0">
              <a:buNone/>
            </a:pPr>
            <a:r>
              <a:rPr lang="en-US" sz="2300" dirty="0"/>
              <a:t>(Copyright permissions may be needed to include the boardgames in the 360 video.)</a:t>
            </a:r>
          </a:p>
        </p:txBody>
      </p:sp>
    </p:spTree>
    <p:extLst>
      <p:ext uri="{BB962C8B-B14F-4D97-AF65-F5344CB8AC3E}">
        <p14:creationId xmlns:p14="http://schemas.microsoft.com/office/powerpoint/2010/main" val="2333019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B5869B-2320-43F0-B805-E4E01DFEC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2693976"/>
          </a:xfrm>
          <a:prstGeom prst="rect">
            <a:avLst/>
          </a:prstGeom>
          <a:gradFill>
            <a:gsLst>
              <a:gs pos="0">
                <a:srgbClr val="E3411B">
                  <a:lumMod val="90000"/>
                </a:srgbClr>
              </a:gs>
              <a:gs pos="25000">
                <a:srgbClr val="E3411B">
                  <a:lumMod val="90000"/>
                </a:srgb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87E38AD-8A43-2A47-85CE-C5C6650DFF3D}"/>
              </a:ext>
            </a:extLst>
          </p:cNvPr>
          <p:cNvSpPr>
            <a:spLocks noGrp="1"/>
          </p:cNvSpPr>
          <p:nvPr>
            <p:ph type="title"/>
          </p:nvPr>
        </p:nvSpPr>
        <p:spPr>
          <a:xfrm>
            <a:off x="1179226" y="826680"/>
            <a:ext cx="9833548" cy="1325563"/>
          </a:xfrm>
        </p:spPr>
        <p:txBody>
          <a:bodyPr>
            <a:normAutofit/>
          </a:bodyPr>
          <a:lstStyle/>
          <a:p>
            <a:pPr algn="ctr"/>
            <a:r>
              <a:rPr lang="en-US" sz="4000" dirty="0">
                <a:solidFill>
                  <a:srgbClr val="FFFFFF"/>
                </a:solidFill>
              </a:rPr>
              <a:t>Concept Continued</a:t>
            </a:r>
          </a:p>
        </p:txBody>
      </p:sp>
      <p:sp>
        <p:nvSpPr>
          <p:cNvPr id="6" name="Content Placeholder 5">
            <a:extLst>
              <a:ext uri="{FF2B5EF4-FFF2-40B4-BE49-F238E27FC236}">
                <a16:creationId xmlns:a16="http://schemas.microsoft.com/office/drawing/2014/main" id="{50822997-2A41-894B-A97C-ACE56A850831}"/>
              </a:ext>
            </a:extLst>
          </p:cNvPr>
          <p:cNvSpPr>
            <a:spLocks noGrp="1"/>
          </p:cNvSpPr>
          <p:nvPr>
            <p:ph idx="1"/>
          </p:nvPr>
        </p:nvSpPr>
        <p:spPr>
          <a:xfrm>
            <a:off x="838200" y="2693976"/>
            <a:ext cx="10309698" cy="3482986"/>
          </a:xfrm>
        </p:spPr>
        <p:txBody>
          <a:bodyPr>
            <a:normAutofit lnSpcReduction="10000"/>
          </a:bodyPr>
          <a:lstStyle/>
          <a:p>
            <a:pPr marL="0" indent="0">
              <a:buNone/>
            </a:pPr>
            <a:r>
              <a:rPr lang="en-US" b="1" dirty="0"/>
              <a:t>Digital Displays:</a:t>
            </a:r>
          </a:p>
          <a:p>
            <a:r>
              <a:rPr lang="en-US" dirty="0"/>
              <a:t>About the installation</a:t>
            </a:r>
          </a:p>
          <a:p>
            <a:r>
              <a:rPr lang="en-US" dirty="0"/>
              <a:t>What is Social Justice</a:t>
            </a:r>
          </a:p>
          <a:p>
            <a:r>
              <a:rPr lang="en-US" dirty="0"/>
              <a:t>How Can You Get Involved?</a:t>
            </a:r>
          </a:p>
          <a:p>
            <a:r>
              <a:rPr lang="en-US" dirty="0"/>
              <a:t>360 videos </a:t>
            </a:r>
          </a:p>
          <a:p>
            <a:pPr marL="0" indent="0">
              <a:buNone/>
            </a:pPr>
            <a:r>
              <a:rPr lang="en-US" b="1" dirty="0" err="1"/>
              <a:t>Additonal</a:t>
            </a:r>
            <a:r>
              <a:rPr lang="en-US" b="1" dirty="0"/>
              <a:t>:</a:t>
            </a:r>
          </a:p>
          <a:p>
            <a:r>
              <a:rPr lang="en-US" dirty="0"/>
              <a:t>Social Justice advocates and brochures</a:t>
            </a:r>
          </a:p>
        </p:txBody>
      </p:sp>
    </p:spTree>
    <p:extLst>
      <p:ext uri="{BB962C8B-B14F-4D97-AF65-F5344CB8AC3E}">
        <p14:creationId xmlns:p14="http://schemas.microsoft.com/office/powerpoint/2010/main" val="3408180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F30309-0846-AC47-B299-A16BB6AA263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8186" y="2486025"/>
            <a:ext cx="5486400" cy="3543300"/>
          </a:xfrm>
          <a:prstGeom prst="rect">
            <a:avLst/>
          </a:prstGeom>
        </p:spPr>
      </p:pic>
      <p:pic>
        <p:nvPicPr>
          <p:cNvPr id="5" name="Picture 4">
            <a:extLst>
              <a:ext uri="{FF2B5EF4-FFF2-40B4-BE49-F238E27FC236}">
                <a16:creationId xmlns:a16="http://schemas.microsoft.com/office/drawing/2014/main" id="{ADEFAC01-9DA5-E24A-92CA-422C17C048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6613245" y="1478756"/>
            <a:ext cx="5200650" cy="3900488"/>
          </a:xfrm>
          <a:prstGeom prst="rect">
            <a:avLst/>
          </a:prstGeom>
        </p:spPr>
      </p:pic>
      <p:sp>
        <p:nvSpPr>
          <p:cNvPr id="6" name="TextBox 5">
            <a:extLst>
              <a:ext uri="{FF2B5EF4-FFF2-40B4-BE49-F238E27FC236}">
                <a16:creationId xmlns:a16="http://schemas.microsoft.com/office/drawing/2014/main" id="{619D8843-0192-FC4C-AC66-F9C7A8C40494}"/>
              </a:ext>
            </a:extLst>
          </p:cNvPr>
          <p:cNvSpPr txBox="1"/>
          <p:nvPr/>
        </p:nvSpPr>
        <p:spPr>
          <a:xfrm>
            <a:off x="667265" y="506627"/>
            <a:ext cx="5486400" cy="1754326"/>
          </a:xfrm>
          <a:prstGeom prst="rect">
            <a:avLst/>
          </a:prstGeom>
          <a:noFill/>
        </p:spPr>
        <p:txBody>
          <a:bodyPr wrap="square" rtlCol="0">
            <a:spAutoFit/>
          </a:bodyPr>
          <a:lstStyle/>
          <a:p>
            <a:r>
              <a:rPr lang="en-US" b="1" dirty="0"/>
              <a:t>LOCATION</a:t>
            </a:r>
          </a:p>
          <a:p>
            <a:endParaRPr lang="en-US" b="1" dirty="0"/>
          </a:p>
          <a:p>
            <a:r>
              <a:rPr lang="en-US" b="1" dirty="0"/>
              <a:t>Miami Law The </a:t>
            </a:r>
            <a:r>
              <a:rPr lang="en-US" b="1" dirty="0" err="1"/>
              <a:t>Hilarie</a:t>
            </a:r>
            <a:r>
              <a:rPr lang="en-US" b="1" dirty="0"/>
              <a:t> Bass Bricks</a:t>
            </a:r>
            <a:r>
              <a:rPr lang="en-US" dirty="0"/>
              <a:t>: Live game</a:t>
            </a:r>
          </a:p>
          <a:p>
            <a:r>
              <a:rPr lang="en-US" b="1" dirty="0"/>
              <a:t>Alma Jennings Foundation Student Lounge</a:t>
            </a:r>
            <a:r>
              <a:rPr lang="en-US" dirty="0"/>
              <a:t>: Signage, game tables, 2D videos</a:t>
            </a:r>
          </a:p>
          <a:p>
            <a:endParaRPr lang="en-US" dirty="0"/>
          </a:p>
        </p:txBody>
      </p:sp>
    </p:spTree>
    <p:extLst>
      <p:ext uri="{BB962C8B-B14F-4D97-AF65-F5344CB8AC3E}">
        <p14:creationId xmlns:p14="http://schemas.microsoft.com/office/powerpoint/2010/main" val="3527473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4F90A9-CAFD-AC4A-8A37-78C6F5DE6E8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54490" y="273181"/>
            <a:ext cx="4696785" cy="6078192"/>
          </a:xfrm>
          <a:prstGeom prst="rect">
            <a:avLst/>
          </a:prstGeom>
        </p:spPr>
      </p:pic>
      <p:pic>
        <p:nvPicPr>
          <p:cNvPr id="7" name="Picture 6">
            <a:extLst>
              <a:ext uri="{FF2B5EF4-FFF2-40B4-BE49-F238E27FC236}">
                <a16:creationId xmlns:a16="http://schemas.microsoft.com/office/drawing/2014/main" id="{0395BFDD-6CF6-894D-B7E8-F937078159B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124465"/>
            <a:ext cx="6444412" cy="4979773"/>
          </a:xfrm>
          <a:prstGeom prst="rect">
            <a:avLst/>
          </a:prstGeom>
        </p:spPr>
      </p:pic>
    </p:spTree>
    <p:extLst>
      <p:ext uri="{BB962C8B-B14F-4D97-AF65-F5344CB8AC3E}">
        <p14:creationId xmlns:p14="http://schemas.microsoft.com/office/powerpoint/2010/main" val="1519207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2E3D7A-ABCD-114C-9AD8-38CBCEDC82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0648" y="432486"/>
            <a:ext cx="7990703" cy="5993027"/>
          </a:xfrm>
          <a:prstGeom prst="rect">
            <a:avLst/>
          </a:prstGeom>
        </p:spPr>
      </p:pic>
    </p:spTree>
    <p:extLst>
      <p:ext uri="{BB962C8B-B14F-4D97-AF65-F5344CB8AC3E}">
        <p14:creationId xmlns:p14="http://schemas.microsoft.com/office/powerpoint/2010/main" val="125754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608BD45-0971-5747-BC51-6304508691B7}"/>
              </a:ext>
            </a:extLst>
          </p:cNvPr>
          <p:cNvSpPr>
            <a:spLocks noGrp="1"/>
          </p:cNvSpPr>
          <p:nvPr>
            <p:ph type="title"/>
          </p:nvPr>
        </p:nvSpPr>
        <p:spPr>
          <a:xfrm>
            <a:off x="640079" y="2053641"/>
            <a:ext cx="3669161" cy="2760098"/>
          </a:xfrm>
        </p:spPr>
        <p:txBody>
          <a:bodyPr>
            <a:normAutofit/>
          </a:bodyPr>
          <a:lstStyle/>
          <a:p>
            <a:r>
              <a:rPr lang="en-US" dirty="0">
                <a:solidFill>
                  <a:srgbClr val="FFFFFF"/>
                </a:solidFill>
              </a:rPr>
              <a:t>Next Steps:</a:t>
            </a:r>
          </a:p>
        </p:txBody>
      </p:sp>
      <p:sp>
        <p:nvSpPr>
          <p:cNvPr id="30" name="Content Placeholder 2">
            <a:extLst>
              <a:ext uri="{FF2B5EF4-FFF2-40B4-BE49-F238E27FC236}">
                <a16:creationId xmlns:a16="http://schemas.microsoft.com/office/drawing/2014/main" id="{60D9CC73-482B-7047-B701-56EB46352B2D}"/>
              </a:ext>
            </a:extLst>
          </p:cNvPr>
          <p:cNvSpPr>
            <a:spLocks noGrp="1"/>
          </p:cNvSpPr>
          <p:nvPr>
            <p:ph idx="1"/>
          </p:nvPr>
        </p:nvSpPr>
        <p:spPr>
          <a:xfrm>
            <a:off x="6090574" y="801866"/>
            <a:ext cx="5306084" cy="5230634"/>
          </a:xfrm>
        </p:spPr>
        <p:txBody>
          <a:bodyPr anchor="ctr">
            <a:normAutofit/>
          </a:bodyPr>
          <a:lstStyle/>
          <a:p>
            <a:r>
              <a:rPr lang="en-US" sz="2400" dirty="0"/>
              <a:t>Develop all aspects of the game with the help a focus group. </a:t>
            </a:r>
          </a:p>
          <a:p>
            <a:r>
              <a:rPr lang="en-US" sz="2400" dirty="0"/>
              <a:t>The group may include students, faculty and staff.</a:t>
            </a:r>
          </a:p>
          <a:p>
            <a:r>
              <a:rPr lang="en-US" sz="2400" dirty="0"/>
              <a:t>The group will provide insight to help develop out the theme including injustice issues and resolutions.</a:t>
            </a:r>
          </a:p>
          <a:p>
            <a:r>
              <a:rPr lang="en-US" sz="2400" dirty="0"/>
              <a:t> The game can be broad reaching (regional or national) or more localized to the city or even campus.</a:t>
            </a:r>
          </a:p>
          <a:p>
            <a:r>
              <a:rPr lang="en-US" sz="2400" dirty="0"/>
              <a:t>Once the main ideas are more concrete, the rules of the game can be hashed out.</a:t>
            </a:r>
          </a:p>
        </p:txBody>
      </p:sp>
    </p:spTree>
    <p:extLst>
      <p:ext uri="{BB962C8B-B14F-4D97-AF65-F5344CB8AC3E}">
        <p14:creationId xmlns:p14="http://schemas.microsoft.com/office/powerpoint/2010/main" val="1802335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608BD45-0971-5747-BC51-6304508691B7}"/>
              </a:ext>
            </a:extLst>
          </p:cNvPr>
          <p:cNvSpPr>
            <a:spLocks noGrp="1"/>
          </p:cNvSpPr>
          <p:nvPr>
            <p:ph type="title"/>
          </p:nvPr>
        </p:nvSpPr>
        <p:spPr>
          <a:xfrm>
            <a:off x="640079" y="2053641"/>
            <a:ext cx="3669161" cy="2760098"/>
          </a:xfrm>
        </p:spPr>
        <p:txBody>
          <a:bodyPr>
            <a:normAutofit/>
          </a:bodyPr>
          <a:lstStyle/>
          <a:p>
            <a:r>
              <a:rPr lang="en-US" dirty="0">
                <a:solidFill>
                  <a:srgbClr val="FFFFFF"/>
                </a:solidFill>
              </a:rPr>
              <a:t>Next Steps:</a:t>
            </a:r>
          </a:p>
        </p:txBody>
      </p:sp>
      <p:sp>
        <p:nvSpPr>
          <p:cNvPr id="30" name="Content Placeholder 2">
            <a:extLst>
              <a:ext uri="{FF2B5EF4-FFF2-40B4-BE49-F238E27FC236}">
                <a16:creationId xmlns:a16="http://schemas.microsoft.com/office/drawing/2014/main" id="{60D9CC73-482B-7047-B701-56EB46352B2D}"/>
              </a:ext>
            </a:extLst>
          </p:cNvPr>
          <p:cNvSpPr>
            <a:spLocks noGrp="1"/>
          </p:cNvSpPr>
          <p:nvPr>
            <p:ph idx="1"/>
          </p:nvPr>
        </p:nvSpPr>
        <p:spPr>
          <a:xfrm>
            <a:off x="6090574" y="801866"/>
            <a:ext cx="5306084" cy="5230634"/>
          </a:xfrm>
        </p:spPr>
        <p:txBody>
          <a:bodyPr anchor="ctr">
            <a:normAutofit lnSpcReduction="10000"/>
          </a:bodyPr>
          <a:lstStyle/>
          <a:p>
            <a:pPr marL="0" indent="0">
              <a:buNone/>
            </a:pPr>
            <a:r>
              <a:rPr lang="en-US" sz="2400" dirty="0"/>
              <a:t>Possible focus group members and consultants at UM:</a:t>
            </a:r>
          </a:p>
          <a:p>
            <a:r>
              <a:rPr lang="en-US" sz="2400" dirty="0"/>
              <a:t>School of Comm, Interactive Media</a:t>
            </a:r>
          </a:p>
          <a:p>
            <a:r>
              <a:rPr lang="en-US" sz="2400" dirty="0" err="1"/>
              <a:t>Kislak</a:t>
            </a:r>
            <a:r>
              <a:rPr lang="en-US" sz="2400" dirty="0"/>
              <a:t> Center </a:t>
            </a:r>
          </a:p>
          <a:p>
            <a:r>
              <a:rPr lang="en-US" sz="2400" dirty="0"/>
              <a:t>School of Law including HOPE Public Interest Resource Center at the Law School </a:t>
            </a:r>
          </a:p>
          <a:p>
            <a:r>
              <a:rPr lang="en-US" sz="2400" dirty="0"/>
              <a:t>Law School Student Organizations such as but not limited to the Student Bar Association, </a:t>
            </a:r>
            <a:r>
              <a:rPr lang="en-US" sz="2400" dirty="0" err="1"/>
              <a:t>OUTLaw</a:t>
            </a:r>
            <a:r>
              <a:rPr lang="en-US" sz="2400" dirty="0"/>
              <a:t> and Miami Law Women (Equity Playhouse if it becomes active again)</a:t>
            </a:r>
          </a:p>
          <a:p>
            <a:r>
              <a:rPr lang="en-US" sz="2400" dirty="0"/>
              <a:t>College of Arts and Sciences, Theatre Arts Students</a:t>
            </a:r>
          </a:p>
        </p:txBody>
      </p:sp>
    </p:spTree>
    <p:extLst>
      <p:ext uri="{BB962C8B-B14F-4D97-AF65-F5344CB8AC3E}">
        <p14:creationId xmlns:p14="http://schemas.microsoft.com/office/powerpoint/2010/main" val="2516733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725</Words>
  <Application>Microsoft Macintosh PowerPoint</Application>
  <PresentationFormat>Widescreen</PresentationFormat>
  <Paragraphs>52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Playing with S.J.</vt:lpstr>
      <vt:lpstr>Concept Introduction</vt:lpstr>
      <vt:lpstr>PowerPoint Presentation</vt:lpstr>
      <vt:lpstr>PowerPoint Presentation</vt:lpstr>
      <vt:lpstr>PowerPoint Presentation</vt:lpstr>
      <vt:lpstr>PowerPoint Presentation</vt:lpstr>
      <vt:lpstr>PowerPoint Presentation</vt:lpstr>
      <vt:lpstr>Concept Continued</vt:lpstr>
      <vt:lpstr>Concept Continued</vt:lpstr>
      <vt:lpstr>Concept Continued</vt:lpstr>
      <vt:lpstr>PowerPoint Presentation</vt:lpstr>
      <vt:lpstr>PowerPoint Presentation</vt:lpstr>
      <vt:lpstr>PowerPoint Presentation</vt:lpstr>
      <vt:lpstr>Next Steps: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Installation and Prototype Projects</dc:title>
  <dc:creator>Estefan, Elizabeth</dc:creator>
  <cp:lastModifiedBy>Elizabeth Estefah</cp:lastModifiedBy>
  <cp:revision>50</cp:revision>
  <dcterms:created xsi:type="dcterms:W3CDTF">2019-06-11T20:14:30Z</dcterms:created>
  <dcterms:modified xsi:type="dcterms:W3CDTF">2019-06-29T02:49:40Z</dcterms:modified>
</cp:coreProperties>
</file>